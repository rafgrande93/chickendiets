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1"/>
  </p:sldMasterIdLst>
  <p:notesMasterIdLst>
    <p:notesMasterId r:id="rId22"/>
  </p:notesMasterIdLst>
  <p:sldIdLst>
    <p:sldId id="256" r:id="rId2"/>
    <p:sldId id="272" r:id="rId3"/>
    <p:sldId id="257" r:id="rId4"/>
    <p:sldId id="269" r:id="rId5"/>
    <p:sldId id="258" r:id="rId6"/>
    <p:sldId id="259" r:id="rId7"/>
    <p:sldId id="273" r:id="rId8"/>
    <p:sldId id="277" r:id="rId9"/>
    <p:sldId id="279" r:id="rId10"/>
    <p:sldId id="263" r:id="rId11"/>
    <p:sldId id="270" r:id="rId12"/>
    <p:sldId id="265" r:id="rId13"/>
    <p:sldId id="268" r:id="rId14"/>
    <p:sldId id="266" r:id="rId15"/>
    <p:sldId id="274" r:id="rId16"/>
    <p:sldId id="275" r:id="rId17"/>
    <p:sldId id="276" r:id="rId18"/>
    <p:sldId id="267" r:id="rId19"/>
    <p:sldId id="28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33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CF78B-0918-4261-99B8-55B55C9B6D7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20446-1319-4B82-AC00-8EEB9125C2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7899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20446-1319-4B82-AC00-8EEB9125C2A5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243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20446-1319-4B82-AC00-8EEB9125C2A5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0532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2091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324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819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3616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1785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3959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927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194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1799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3193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1269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0413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37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0647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5916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1017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FFA8C-E44F-47D4-A3D2-25D9BB1A38D2}" type="datetimeFigureOut">
              <a:rPr lang="it-IT" smtClean="0"/>
              <a:t>25/09/2025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6C9CD1B-F793-43C4-9DFC-C185B6AC2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9366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4253A7-1026-8422-4EC3-C397D0AAA4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 Diets 1 &amp; 2 Yield Different Growth? 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0BF6FA0-0699-9A40-7BEA-F0370F5FE6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statistical analysis for the farm industry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319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53"/>
    </mc:Choice>
    <mc:Fallback xmlns="">
      <p:transition spd="slow" advTm="3135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7FDE55-720C-C655-49CE-A010B7B86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5800"/>
          </a:xfrm>
        </p:spPr>
        <p:txBody>
          <a:bodyPr>
            <a:normAutofit/>
          </a:bodyPr>
          <a:lstStyle/>
          <a:p>
            <a:r>
              <a:rPr lang="it-IT" dirty="0"/>
              <a:t>Executive </a:t>
            </a:r>
            <a:r>
              <a:rPr lang="it-IT" dirty="0" err="1"/>
              <a:t>summary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4BA71D-84C3-24D1-3F94-1A00A90AD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1715"/>
            <a:ext cx="8596668" cy="4180114"/>
          </a:xfrm>
        </p:spPr>
        <p:txBody>
          <a:bodyPr>
            <a:normAutofit fontScale="32500" lnSpcReduction="20000"/>
          </a:bodyPr>
          <a:lstStyle/>
          <a:p>
            <a:r>
              <a:rPr lang="it-IT" sz="6500" dirty="0"/>
              <a:t>Definition of the </a:t>
            </a:r>
            <a:r>
              <a:rPr lang="it-IT" sz="6500" dirty="0" err="1"/>
              <a:t>problem</a:t>
            </a:r>
            <a:r>
              <a:rPr lang="it-IT" sz="6500" dirty="0"/>
              <a:t> («</a:t>
            </a:r>
            <a:r>
              <a:rPr lang="it-IT" sz="6500" dirty="0" err="1"/>
              <a:t>is</a:t>
            </a:r>
            <a:r>
              <a:rPr lang="it-IT" sz="6500" dirty="0"/>
              <a:t> </a:t>
            </a:r>
            <a:r>
              <a:rPr lang="it-IT" sz="6500" dirty="0" err="1"/>
              <a:t>there</a:t>
            </a:r>
            <a:r>
              <a:rPr lang="it-IT" sz="6500" dirty="0"/>
              <a:t> a </a:t>
            </a:r>
            <a:r>
              <a:rPr lang="it-IT" sz="6500" dirty="0" err="1"/>
              <a:t>statistical</a:t>
            </a:r>
            <a:r>
              <a:rPr lang="it-IT" sz="6500" dirty="0"/>
              <a:t> </a:t>
            </a:r>
            <a:r>
              <a:rPr lang="it-IT" sz="6500" dirty="0" err="1"/>
              <a:t>difference</a:t>
            </a:r>
            <a:r>
              <a:rPr lang="it-IT" sz="6500" dirty="0"/>
              <a:t> </a:t>
            </a:r>
            <a:r>
              <a:rPr lang="it-IT" sz="6500" dirty="0" err="1"/>
              <a:t>between</a:t>
            </a:r>
            <a:r>
              <a:rPr lang="it-IT" sz="6500" dirty="0"/>
              <a:t> the </a:t>
            </a:r>
            <a:r>
              <a:rPr lang="it-IT" sz="6500" dirty="0" err="1"/>
              <a:t>growth</a:t>
            </a:r>
            <a:r>
              <a:rPr lang="it-IT" sz="6500" dirty="0"/>
              <a:t> of the group </a:t>
            </a:r>
            <a:r>
              <a:rPr lang="it-IT" sz="6500" b="1" dirty="0" err="1"/>
              <a:t>Diet</a:t>
            </a:r>
            <a:r>
              <a:rPr lang="it-IT" sz="6500" b="1" dirty="0"/>
              <a:t> 1</a:t>
            </a:r>
            <a:r>
              <a:rPr lang="it-IT" sz="6500" dirty="0"/>
              <a:t> and the group </a:t>
            </a:r>
            <a:r>
              <a:rPr lang="it-IT" sz="6500" b="1" dirty="0" err="1"/>
              <a:t>Diet</a:t>
            </a:r>
            <a:r>
              <a:rPr lang="it-IT" sz="6500" b="1" dirty="0"/>
              <a:t> 2</a:t>
            </a:r>
            <a:r>
              <a:rPr lang="it-IT" sz="6500" dirty="0"/>
              <a:t>?», source of data: </a:t>
            </a:r>
            <a:r>
              <a:rPr lang="it-IT" sz="6500" i="1" dirty="0"/>
              <a:t>chickweight.csv</a:t>
            </a:r>
            <a:r>
              <a:rPr lang="it-IT" sz="6500" dirty="0"/>
              <a:t>)</a:t>
            </a:r>
          </a:p>
          <a:p>
            <a:pPr marL="0" indent="0">
              <a:buNone/>
            </a:pPr>
            <a:endParaRPr lang="it-IT" sz="6500" dirty="0"/>
          </a:p>
          <a:p>
            <a:r>
              <a:rPr lang="it-IT" sz="6500" dirty="0" err="1"/>
              <a:t>Visualizations</a:t>
            </a:r>
            <a:r>
              <a:rPr lang="it-IT" sz="6500" dirty="0"/>
              <a:t>, </a:t>
            </a:r>
            <a:r>
              <a:rPr lang="it-IT" sz="6500" dirty="0" err="1"/>
              <a:t>preliminary</a:t>
            </a:r>
            <a:r>
              <a:rPr lang="it-IT" sz="6500" dirty="0"/>
              <a:t> </a:t>
            </a:r>
            <a:r>
              <a:rPr lang="it-IT" sz="6500" dirty="0" err="1"/>
              <a:t>tests</a:t>
            </a:r>
            <a:r>
              <a:rPr lang="it-IT" sz="6500" dirty="0"/>
              <a:t> and </a:t>
            </a:r>
            <a:r>
              <a:rPr lang="it-IT" sz="6500" dirty="0" err="1"/>
              <a:t>statistic</a:t>
            </a:r>
            <a:r>
              <a:rPr lang="it-IT" sz="6500" dirty="0"/>
              <a:t> test.</a:t>
            </a:r>
          </a:p>
          <a:p>
            <a:endParaRPr lang="it-IT" sz="6500" dirty="0"/>
          </a:p>
          <a:p>
            <a:r>
              <a:rPr lang="it-IT" sz="6500" dirty="0" err="1"/>
              <a:t>Conclusions</a:t>
            </a:r>
            <a:r>
              <a:rPr lang="it-IT" sz="6500" dirty="0"/>
              <a:t> (</a:t>
            </a:r>
            <a:r>
              <a:rPr lang="en-US" sz="6500" b="1" dirty="0"/>
              <a:t>No significant difference between the groups, c</a:t>
            </a:r>
            <a:r>
              <a:rPr lang="en-US" sz="6600" b="1" dirty="0"/>
              <a:t>hoose diet by cost</a:t>
            </a:r>
            <a:r>
              <a:rPr lang="it-IT" sz="6500" dirty="0"/>
              <a:t>).</a:t>
            </a:r>
          </a:p>
          <a:p>
            <a:endParaRPr lang="it-IT" sz="6500" dirty="0"/>
          </a:p>
          <a:p>
            <a:r>
              <a:rPr lang="it-IT" sz="6500" dirty="0" err="1"/>
              <a:t>Documentation</a:t>
            </a:r>
            <a:r>
              <a:rPr lang="it-IT" sz="6500" dirty="0"/>
              <a:t>: </a:t>
            </a:r>
            <a:r>
              <a:rPr lang="it-IT" sz="6500" i="1" dirty="0"/>
              <a:t>requirements.txt</a:t>
            </a:r>
            <a:r>
              <a:rPr lang="it-IT" sz="6500" dirty="0"/>
              <a:t>, </a:t>
            </a:r>
            <a:r>
              <a:rPr lang="it-IT" sz="6500" i="1" dirty="0"/>
              <a:t>readme.txt</a:t>
            </a:r>
            <a:r>
              <a:rPr lang="it-IT" sz="6500" dirty="0"/>
              <a:t>, </a:t>
            </a:r>
            <a:r>
              <a:rPr lang="it-IT" sz="6500" i="1" dirty="0"/>
              <a:t>LICENSE.txt</a:t>
            </a:r>
            <a:r>
              <a:rPr lang="it-IT" sz="6500" dirty="0"/>
              <a:t> and the </a:t>
            </a:r>
            <a:r>
              <a:rPr lang="it-IT" sz="6500" dirty="0" err="1"/>
              <a:t>Jupyter</a:t>
            </a:r>
            <a:r>
              <a:rPr lang="it-IT" sz="6500" dirty="0"/>
              <a:t> notebook.</a:t>
            </a:r>
            <a:r>
              <a:rPr lang="it-IT" sz="6500" i="1" dirty="0"/>
              <a:t> </a:t>
            </a:r>
            <a:endParaRPr lang="it-IT" sz="6500" dirty="0"/>
          </a:p>
          <a:p>
            <a:pPr marL="0" indent="0">
              <a:buNone/>
            </a:pP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85389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560"/>
    </mc:Choice>
    <mc:Fallback xmlns="">
      <p:transition spd="slow" advTm="8256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6F1575-EA16-540A-6F98-030FAAD83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Definition of the </a:t>
            </a:r>
            <a:r>
              <a:rPr lang="it-IT" dirty="0" err="1"/>
              <a:t>problem</a:t>
            </a:r>
            <a:r>
              <a:rPr lang="it-IT" dirty="0"/>
              <a:t> and goal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ADF7FD-90B9-2CEC-213A-92B61E3D9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200" dirty="0"/>
              <a:t>The </a:t>
            </a:r>
            <a:r>
              <a:rPr lang="it-IT" sz="2200" dirty="0" err="1"/>
              <a:t>parameters</a:t>
            </a:r>
            <a:r>
              <a:rPr lang="it-IT" sz="2200" dirty="0"/>
              <a:t> of the dataset are the ID </a:t>
            </a:r>
            <a:r>
              <a:rPr lang="it-IT" sz="2200" dirty="0" err="1"/>
              <a:t>number</a:t>
            </a:r>
            <a:r>
              <a:rPr lang="it-IT" sz="2200" dirty="0"/>
              <a:t> of the chickens, the </a:t>
            </a:r>
            <a:r>
              <a:rPr lang="it-IT" sz="2200" dirty="0" err="1"/>
              <a:t>number</a:t>
            </a:r>
            <a:r>
              <a:rPr lang="it-IT" sz="2200" dirty="0"/>
              <a:t> of the </a:t>
            </a:r>
            <a:r>
              <a:rPr lang="it-IT" sz="2200" dirty="0" err="1"/>
              <a:t>diet</a:t>
            </a:r>
            <a:r>
              <a:rPr lang="it-IT" sz="2200" dirty="0"/>
              <a:t>, the weight of chickens (in </a:t>
            </a:r>
            <a:r>
              <a:rPr lang="it-IT" sz="2200" dirty="0" err="1"/>
              <a:t>grams</a:t>
            </a:r>
            <a:r>
              <a:rPr lang="it-IT" sz="2200" dirty="0"/>
              <a:t>) and the day </a:t>
            </a:r>
            <a:r>
              <a:rPr lang="it-IT" sz="2200" dirty="0" err="1"/>
              <a:t>when</a:t>
            </a:r>
            <a:r>
              <a:rPr lang="it-IT" sz="2200" dirty="0"/>
              <a:t> the </a:t>
            </a:r>
            <a:r>
              <a:rPr lang="it-IT" sz="2200" dirty="0" err="1"/>
              <a:t>measure</a:t>
            </a:r>
            <a:r>
              <a:rPr lang="it-IT" sz="2200" dirty="0"/>
              <a:t> </a:t>
            </a:r>
            <a:r>
              <a:rPr lang="it-IT" sz="2200" dirty="0" err="1"/>
              <a:t>was</a:t>
            </a:r>
            <a:r>
              <a:rPr lang="it-IT" sz="2200" dirty="0"/>
              <a:t> </a:t>
            </a:r>
            <a:r>
              <a:rPr lang="it-IT" sz="2200" dirty="0" err="1"/>
              <a:t>taken</a:t>
            </a:r>
            <a:r>
              <a:rPr lang="it-IT" sz="2200" dirty="0"/>
              <a:t>.</a:t>
            </a:r>
          </a:p>
          <a:p>
            <a:endParaRPr lang="it-IT" sz="2200" dirty="0"/>
          </a:p>
          <a:p>
            <a:pPr marL="0" indent="0">
              <a:buNone/>
            </a:pPr>
            <a:endParaRPr lang="it-IT" sz="2200" dirty="0"/>
          </a:p>
          <a:p>
            <a:r>
              <a:rPr lang="it-IT" sz="2200" dirty="0"/>
              <a:t>I </a:t>
            </a:r>
            <a:r>
              <a:rPr lang="it-IT" sz="2200" dirty="0" err="1"/>
              <a:t>want</a:t>
            </a:r>
            <a:r>
              <a:rPr lang="it-IT" sz="2200" dirty="0"/>
              <a:t> to </a:t>
            </a:r>
            <a:r>
              <a:rPr lang="it-IT" sz="2200" dirty="0" err="1"/>
              <a:t>understand</a:t>
            </a:r>
            <a:r>
              <a:rPr lang="it-IT" sz="2200" dirty="0"/>
              <a:t> </a:t>
            </a:r>
            <a:r>
              <a:rPr lang="it-IT" sz="2200" dirty="0" err="1"/>
              <a:t>if</a:t>
            </a:r>
            <a:r>
              <a:rPr lang="it-IT" sz="2200" dirty="0"/>
              <a:t> </a:t>
            </a:r>
            <a:r>
              <a:rPr lang="it-IT" sz="2200" dirty="0" err="1"/>
              <a:t>there</a:t>
            </a:r>
            <a:r>
              <a:rPr lang="it-IT" sz="2200" dirty="0"/>
              <a:t> </a:t>
            </a:r>
            <a:r>
              <a:rPr lang="it-IT" sz="2200" dirty="0" err="1"/>
              <a:t>is</a:t>
            </a:r>
            <a:r>
              <a:rPr lang="it-IT" sz="2200" dirty="0"/>
              <a:t> a </a:t>
            </a:r>
            <a:r>
              <a:rPr lang="it-IT" sz="2200" dirty="0" err="1"/>
              <a:t>statistical</a:t>
            </a:r>
            <a:r>
              <a:rPr lang="it-IT" sz="2200" dirty="0"/>
              <a:t> </a:t>
            </a:r>
            <a:r>
              <a:rPr lang="it-IT" sz="2200" dirty="0" err="1"/>
              <a:t>difference</a:t>
            </a:r>
            <a:r>
              <a:rPr lang="it-IT" sz="2200" dirty="0"/>
              <a:t> </a:t>
            </a:r>
            <a:r>
              <a:rPr lang="it-IT" sz="2200" dirty="0" err="1"/>
              <a:t>between</a:t>
            </a:r>
            <a:r>
              <a:rPr lang="it-IT" sz="2200" dirty="0"/>
              <a:t> the </a:t>
            </a:r>
            <a:r>
              <a:rPr lang="it-IT" sz="2200" dirty="0" err="1"/>
              <a:t>growth</a:t>
            </a:r>
            <a:r>
              <a:rPr lang="it-IT" sz="2200" dirty="0"/>
              <a:t> of the chickens of the group </a:t>
            </a:r>
            <a:r>
              <a:rPr lang="it-IT" sz="2200" b="1" dirty="0" err="1"/>
              <a:t>Diet</a:t>
            </a:r>
            <a:r>
              <a:rPr lang="it-IT" sz="2200" b="1" dirty="0"/>
              <a:t> 1</a:t>
            </a:r>
            <a:r>
              <a:rPr lang="it-IT" sz="2200" dirty="0"/>
              <a:t> and the </a:t>
            </a:r>
            <a:r>
              <a:rPr lang="it-IT" sz="2200" dirty="0" err="1"/>
              <a:t>growth</a:t>
            </a:r>
            <a:r>
              <a:rPr lang="it-IT" sz="2200" dirty="0"/>
              <a:t> of the chickens the group </a:t>
            </a:r>
            <a:r>
              <a:rPr lang="it-IT" sz="2200" b="1" dirty="0" err="1"/>
              <a:t>Diet</a:t>
            </a:r>
            <a:r>
              <a:rPr lang="it-IT" sz="2200" b="1" dirty="0"/>
              <a:t> 2</a:t>
            </a:r>
            <a:r>
              <a:rPr lang="it-IT" sz="2200" dirty="0"/>
              <a:t> over </a:t>
            </a:r>
            <a:r>
              <a:rPr lang="it-IT" sz="2200" dirty="0" err="1"/>
              <a:t>these</a:t>
            </a:r>
            <a:r>
              <a:rPr lang="it-IT" sz="2200" dirty="0"/>
              <a:t> 21 days.</a:t>
            </a:r>
          </a:p>
        </p:txBody>
      </p:sp>
    </p:spTree>
    <p:extLst>
      <p:ext uri="{BB962C8B-B14F-4D97-AF65-F5344CB8AC3E}">
        <p14:creationId xmlns:p14="http://schemas.microsoft.com/office/powerpoint/2010/main" val="2135982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612"/>
    </mc:Choice>
    <mc:Fallback xmlns="">
      <p:transition spd="slow" advTm="2361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B5C453-05E4-92CD-EEB6-5320A75F0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Null</a:t>
            </a:r>
            <a:r>
              <a:rPr lang="it-IT" dirty="0"/>
              <a:t> </a:t>
            </a:r>
            <a:r>
              <a:rPr lang="it-IT" dirty="0" err="1"/>
              <a:t>hypothesis</a:t>
            </a:r>
            <a:r>
              <a:rPr lang="it-IT" dirty="0"/>
              <a:t> and coding tools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A872D5-E711-05B2-D036-1B8E51B1A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200" dirty="0"/>
              <a:t>The </a:t>
            </a:r>
            <a:r>
              <a:rPr lang="it-IT" sz="2200" dirty="0" err="1"/>
              <a:t>initial</a:t>
            </a:r>
            <a:r>
              <a:rPr lang="it-IT" sz="2200" dirty="0"/>
              <a:t> </a:t>
            </a:r>
            <a:r>
              <a:rPr lang="it-IT" sz="2200" b="1" dirty="0" err="1"/>
              <a:t>null</a:t>
            </a:r>
            <a:r>
              <a:rPr lang="it-IT" sz="2200" dirty="0"/>
              <a:t> </a:t>
            </a:r>
            <a:r>
              <a:rPr lang="it-IT" sz="2200" b="1" dirty="0" err="1"/>
              <a:t>hypothesis</a:t>
            </a:r>
            <a:r>
              <a:rPr lang="it-IT" sz="2200" b="1" dirty="0"/>
              <a:t> </a:t>
            </a:r>
            <a:r>
              <a:rPr lang="it-IT" sz="2200" dirty="0" err="1"/>
              <a:t>is</a:t>
            </a:r>
            <a:r>
              <a:rPr lang="it-IT" sz="2200" dirty="0"/>
              <a:t> </a:t>
            </a:r>
            <a:r>
              <a:rPr lang="it-IT" sz="2200" dirty="0" err="1"/>
              <a:t>that</a:t>
            </a:r>
            <a:r>
              <a:rPr lang="it-IT" sz="2200" dirty="0"/>
              <a:t> </a:t>
            </a:r>
            <a:r>
              <a:rPr lang="it-IT" sz="2200" dirty="0" err="1"/>
              <a:t>there</a:t>
            </a:r>
            <a:r>
              <a:rPr lang="it-IT" sz="2200" dirty="0"/>
              <a:t> </a:t>
            </a:r>
            <a:r>
              <a:rPr lang="it-IT" sz="2200" dirty="0" err="1"/>
              <a:t>is</a:t>
            </a:r>
            <a:r>
              <a:rPr lang="it-IT" sz="2200" dirty="0"/>
              <a:t> no </a:t>
            </a:r>
            <a:r>
              <a:rPr lang="it-IT" sz="2200" dirty="0" err="1"/>
              <a:t>statistical</a:t>
            </a:r>
            <a:r>
              <a:rPr lang="it-IT" sz="2200" dirty="0"/>
              <a:t> </a:t>
            </a:r>
            <a:r>
              <a:rPr lang="it-IT" sz="2200" dirty="0" err="1"/>
              <a:t>difference</a:t>
            </a:r>
            <a:r>
              <a:rPr lang="it-IT" sz="2200" dirty="0"/>
              <a:t> </a:t>
            </a:r>
            <a:r>
              <a:rPr lang="it-IT" sz="2200" dirty="0" err="1"/>
              <a:t>between</a:t>
            </a:r>
            <a:r>
              <a:rPr lang="it-IT" sz="2200" dirty="0"/>
              <a:t> </a:t>
            </a:r>
            <a:r>
              <a:rPr lang="it-IT" sz="2200" dirty="0" err="1"/>
              <a:t>these</a:t>
            </a:r>
            <a:r>
              <a:rPr lang="it-IT" sz="2200" dirty="0"/>
              <a:t> </a:t>
            </a:r>
            <a:r>
              <a:rPr lang="it-IT" sz="2200" dirty="0" err="1"/>
              <a:t>two</a:t>
            </a:r>
            <a:r>
              <a:rPr lang="it-IT" sz="2200" dirty="0"/>
              <a:t> groups.</a:t>
            </a:r>
            <a:endParaRPr lang="it-IT" sz="2200" b="1" dirty="0"/>
          </a:p>
          <a:p>
            <a:endParaRPr lang="it-IT" sz="2200" b="1" dirty="0"/>
          </a:p>
          <a:p>
            <a:endParaRPr lang="it-IT" sz="2200" b="1" dirty="0"/>
          </a:p>
          <a:p>
            <a:r>
              <a:rPr lang="it-IT" sz="2200" dirty="0"/>
              <a:t>In </a:t>
            </a:r>
            <a:r>
              <a:rPr lang="it-IT" sz="2200" dirty="0" err="1"/>
              <a:t>order</a:t>
            </a:r>
            <a:r>
              <a:rPr lang="it-IT" sz="2200" dirty="0"/>
              <a:t> to </a:t>
            </a:r>
            <a:r>
              <a:rPr lang="it-IT" sz="2200" dirty="0" err="1"/>
              <a:t>analyze</a:t>
            </a:r>
            <a:r>
              <a:rPr lang="it-IT" sz="2200" dirty="0"/>
              <a:t> the data </a:t>
            </a:r>
            <a:r>
              <a:rPr lang="it-IT" sz="2200" b="1" dirty="0"/>
              <a:t>Python</a:t>
            </a:r>
            <a:r>
              <a:rPr lang="it-IT" sz="2200" dirty="0"/>
              <a:t> </a:t>
            </a:r>
            <a:r>
              <a:rPr lang="it-IT" sz="2200" dirty="0" err="1"/>
              <a:t>will</a:t>
            </a:r>
            <a:r>
              <a:rPr lang="it-IT" sz="2200" dirty="0"/>
              <a:t> be </a:t>
            </a:r>
            <a:r>
              <a:rPr lang="it-IT" sz="2200" dirty="0" err="1"/>
              <a:t>used</a:t>
            </a:r>
            <a:r>
              <a:rPr lang="it-IT" sz="2200" dirty="0"/>
              <a:t>, in </a:t>
            </a:r>
            <a:r>
              <a:rPr lang="it-IT" sz="2200" dirty="0" err="1"/>
              <a:t>particular</a:t>
            </a:r>
            <a:r>
              <a:rPr lang="it-IT" sz="2200" dirty="0"/>
              <a:t> the libraries </a:t>
            </a:r>
            <a:r>
              <a:rPr lang="it-IT" sz="2200" b="1" dirty="0" err="1"/>
              <a:t>Pandas</a:t>
            </a:r>
            <a:r>
              <a:rPr lang="it-IT" sz="2200" b="1" dirty="0"/>
              <a:t> </a:t>
            </a:r>
            <a:r>
              <a:rPr lang="it-IT" sz="2200" dirty="0"/>
              <a:t>(for data </a:t>
            </a:r>
            <a:r>
              <a:rPr lang="it-IT" sz="2200" dirty="0" err="1"/>
              <a:t>analysis</a:t>
            </a:r>
            <a:r>
              <a:rPr lang="it-IT" sz="2200" dirty="0"/>
              <a:t>), </a:t>
            </a:r>
            <a:r>
              <a:rPr lang="it-IT" sz="2200" b="1" dirty="0" err="1"/>
              <a:t>SciPy</a:t>
            </a:r>
            <a:r>
              <a:rPr lang="it-IT" sz="2200" dirty="0"/>
              <a:t> (for </a:t>
            </a:r>
            <a:r>
              <a:rPr lang="it-IT" sz="2200" dirty="0" err="1"/>
              <a:t>statistics</a:t>
            </a:r>
            <a:r>
              <a:rPr lang="it-IT" sz="2200" dirty="0"/>
              <a:t>) and </a:t>
            </a:r>
            <a:r>
              <a:rPr lang="it-IT" sz="2200" b="1" dirty="0" err="1"/>
              <a:t>matplotlib</a:t>
            </a:r>
            <a:r>
              <a:rPr lang="it-IT" sz="2200" dirty="0"/>
              <a:t> (for data </a:t>
            </a:r>
            <a:r>
              <a:rPr lang="it-IT" sz="2200" dirty="0" err="1"/>
              <a:t>visualization</a:t>
            </a:r>
            <a:r>
              <a:rPr lang="it-IT" sz="2200" dirty="0"/>
              <a:t>).</a:t>
            </a:r>
          </a:p>
          <a:p>
            <a:pPr marL="0" indent="0">
              <a:buNone/>
            </a:pPr>
            <a:endParaRPr lang="it-IT" sz="2200" b="1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1498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893"/>
    </mc:Choice>
    <mc:Fallback xmlns="">
      <p:transition spd="slow" advTm="2289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295891-C9E6-E9C2-4610-3529225C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Initial</a:t>
            </a:r>
            <a:r>
              <a:rPr lang="it-IT" dirty="0"/>
              <a:t> steps and data </a:t>
            </a:r>
            <a:r>
              <a:rPr lang="it-IT" dirty="0" err="1"/>
              <a:t>cleaning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9D17C5-5923-42FF-9C03-72053F473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200" dirty="0"/>
              <a:t>The </a:t>
            </a:r>
            <a:r>
              <a:rPr lang="it-IT" sz="2200" dirty="0" err="1"/>
              <a:t>vectors</a:t>
            </a:r>
            <a:r>
              <a:rPr lang="it-IT" sz="2200" dirty="0"/>
              <a:t> </a:t>
            </a:r>
            <a:r>
              <a:rPr lang="it-IT" sz="2200" dirty="0" err="1"/>
              <a:t>associated</a:t>
            </a:r>
            <a:r>
              <a:rPr lang="it-IT" sz="2200" dirty="0"/>
              <a:t> to the </a:t>
            </a:r>
            <a:r>
              <a:rPr lang="it-IT" sz="2200" dirty="0" err="1"/>
              <a:t>growth</a:t>
            </a:r>
            <a:r>
              <a:rPr lang="it-IT" sz="2200" dirty="0"/>
              <a:t> are </a:t>
            </a:r>
            <a:r>
              <a:rPr lang="it-IT" sz="2200" dirty="0" err="1"/>
              <a:t>defined</a:t>
            </a:r>
            <a:r>
              <a:rPr lang="it-IT" sz="2200" dirty="0"/>
              <a:t> </a:t>
            </a:r>
            <a:r>
              <a:rPr lang="it-IT" sz="2200" dirty="0" err="1"/>
              <a:t>as</a:t>
            </a:r>
            <a:r>
              <a:rPr lang="it-IT" sz="2200" dirty="0"/>
              <a:t> the </a:t>
            </a:r>
            <a:r>
              <a:rPr lang="it-IT" sz="2200" dirty="0" err="1"/>
              <a:t>difference</a:t>
            </a:r>
            <a:r>
              <a:rPr lang="it-IT" sz="2200" dirty="0"/>
              <a:t> </a:t>
            </a:r>
            <a:r>
              <a:rPr lang="it-IT" sz="2200" dirty="0" err="1"/>
              <a:t>between</a:t>
            </a:r>
            <a:r>
              <a:rPr lang="it-IT" sz="2200" dirty="0"/>
              <a:t> the weights </a:t>
            </a:r>
            <a:r>
              <a:rPr lang="it-IT" sz="2200" dirty="0" err="1"/>
              <a:t>at</a:t>
            </a:r>
            <a:r>
              <a:rPr lang="it-IT" sz="2200" dirty="0"/>
              <a:t> day 21 and the weights </a:t>
            </a:r>
            <a:r>
              <a:rPr lang="it-IT" sz="2200" dirty="0" err="1"/>
              <a:t>at</a:t>
            </a:r>
            <a:r>
              <a:rPr lang="it-IT" sz="2200" dirty="0"/>
              <a:t> day 0.</a:t>
            </a:r>
          </a:p>
          <a:p>
            <a:pPr marL="0" indent="0">
              <a:buNone/>
            </a:pPr>
            <a:endParaRPr lang="it-IT" sz="2200" dirty="0"/>
          </a:p>
          <a:p>
            <a:endParaRPr lang="it-IT" sz="2200" dirty="0"/>
          </a:p>
          <a:p>
            <a:r>
              <a:rPr lang="it-IT" sz="2200" dirty="0" err="1"/>
              <a:t>There</a:t>
            </a:r>
            <a:r>
              <a:rPr lang="it-IT" sz="2200" dirty="0"/>
              <a:t> are 4 </a:t>
            </a:r>
            <a:r>
              <a:rPr lang="it-IT" sz="2200" dirty="0" err="1"/>
              <a:t>missing</a:t>
            </a:r>
            <a:r>
              <a:rPr lang="it-IT" sz="2200" dirty="0"/>
              <a:t> </a:t>
            </a:r>
            <a:r>
              <a:rPr lang="it-IT" sz="2200" dirty="0" err="1"/>
              <a:t>values</a:t>
            </a:r>
            <a:r>
              <a:rPr lang="it-IT" sz="2200" dirty="0"/>
              <a:t> in the first group </a:t>
            </a:r>
            <a:r>
              <a:rPr lang="it-IT" sz="2200" dirty="0" err="1"/>
              <a:t>related</a:t>
            </a:r>
            <a:r>
              <a:rPr lang="it-IT" sz="2200" dirty="0"/>
              <a:t> to the weight of the day 21. </a:t>
            </a:r>
            <a:r>
              <a:rPr lang="it-IT" sz="2200" dirty="0" err="1"/>
              <a:t>Hence</a:t>
            </a:r>
            <a:r>
              <a:rPr lang="it-IT" sz="2200" dirty="0"/>
              <a:t> </a:t>
            </a:r>
            <a:r>
              <a:rPr lang="it-IT" sz="2200" dirty="0" err="1"/>
              <a:t>they</a:t>
            </a:r>
            <a:r>
              <a:rPr lang="it-IT" sz="2200" dirty="0"/>
              <a:t> are </a:t>
            </a:r>
            <a:r>
              <a:rPr lang="it-IT" sz="2200" dirty="0" err="1"/>
              <a:t>removed</a:t>
            </a:r>
            <a:r>
              <a:rPr lang="it-IT" sz="2200" dirty="0"/>
              <a:t> (first group </a:t>
            </a:r>
            <a:r>
              <a:rPr lang="en-US" sz="2200" dirty="0"/>
              <a:t>n₁ </a:t>
            </a:r>
            <a:r>
              <a:rPr lang="it-IT" sz="2200" dirty="0"/>
              <a:t>=16, second group </a:t>
            </a:r>
            <a:r>
              <a:rPr lang="en-US" sz="2200" dirty="0"/>
              <a:t>n₂ </a:t>
            </a:r>
            <a:r>
              <a:rPr lang="it-IT" sz="2200" dirty="0"/>
              <a:t>=10).</a:t>
            </a:r>
          </a:p>
          <a:p>
            <a:pPr marL="0" indent="0">
              <a:buNone/>
            </a:pPr>
            <a:endParaRPr lang="it-IT" sz="2200" dirty="0"/>
          </a:p>
        </p:txBody>
      </p:sp>
    </p:spTree>
    <p:extLst>
      <p:ext uri="{BB962C8B-B14F-4D97-AF65-F5344CB8AC3E}">
        <p14:creationId xmlns:p14="http://schemas.microsoft.com/office/powerpoint/2010/main" val="328834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387"/>
    </mc:Choice>
    <mc:Fallback xmlns="">
      <p:transition spd="slow" advTm="4738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54F07E-2E77-001D-652E-1DD4C49F7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on the </a:t>
            </a:r>
            <a:r>
              <a:rPr lang="it-IT" dirty="0" err="1"/>
              <a:t>growth</a:t>
            </a:r>
            <a:r>
              <a:rPr lang="it-IT" dirty="0"/>
              <a:t> for the </a:t>
            </a:r>
            <a:r>
              <a:rPr lang="it-IT" dirty="0" err="1"/>
              <a:t>two</a:t>
            </a:r>
            <a:r>
              <a:rPr lang="it-IT" dirty="0"/>
              <a:t> groups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FF952743-ACFA-0E85-C689-2055157845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142" y="2230178"/>
            <a:ext cx="1324160" cy="3591426"/>
          </a:xfr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236EF5B-FDA7-156E-78C9-C860DC37A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893" y="2916073"/>
            <a:ext cx="2162477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2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74"/>
    </mc:Choice>
    <mc:Fallback xmlns="">
      <p:transition spd="slow" advTm="907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14B0D7-F6D7-0BBF-05D6-09F5BC6A1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Statistics</a:t>
            </a:r>
            <a:r>
              <a:rPr lang="it-IT" dirty="0"/>
              <a:t> on the </a:t>
            </a:r>
            <a:r>
              <a:rPr lang="it-IT" dirty="0" err="1"/>
              <a:t>growth</a:t>
            </a:r>
            <a:endParaRPr lang="it-IT" dirty="0"/>
          </a:p>
        </p:txBody>
      </p:sp>
      <p:pic>
        <p:nvPicPr>
          <p:cNvPr id="9" name="Segnaposto contenuto 8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6845E92C-58B0-4BA5-427F-5AA2C049E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663" y="2728208"/>
            <a:ext cx="3801005" cy="1962424"/>
          </a:xfrm>
        </p:spPr>
      </p:pic>
      <p:pic>
        <p:nvPicPr>
          <p:cNvPr id="11" name="Immagine 10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FA6D969F-5928-9905-6C51-0325D8F84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097" y="2737734"/>
            <a:ext cx="3801005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56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01"/>
    </mc:Choice>
    <mc:Fallback xmlns="">
      <p:transition spd="slow" advTm="1070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EF7AE9-10ED-9D31-3F99-70B984C26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Boxplots</a:t>
            </a:r>
            <a:r>
              <a:rPr lang="it-IT" dirty="0"/>
              <a:t> of the </a:t>
            </a:r>
            <a:r>
              <a:rPr lang="it-IT" dirty="0" err="1"/>
              <a:t>distributions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A7D00E-539F-22D1-B79D-3DAB1B5CE7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Both diets show similar distributions, Diet 2 is a bit more spread.</a:t>
            </a:r>
          </a:p>
          <a:p>
            <a:endParaRPr lang="en-US" sz="2200" dirty="0"/>
          </a:p>
          <a:p>
            <a:r>
              <a:rPr lang="en-US" sz="2200" dirty="0"/>
              <a:t>No outliers detected.</a:t>
            </a:r>
            <a:endParaRPr lang="it-IT" sz="2200" dirty="0"/>
          </a:p>
        </p:txBody>
      </p:sp>
      <p:pic>
        <p:nvPicPr>
          <p:cNvPr id="9" name="Segnaposto contenuto 8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BE718B4E-E0E1-CCD5-3D03-F74A0E4151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352" y="2160589"/>
            <a:ext cx="4184650" cy="3521754"/>
          </a:xfrm>
        </p:spPr>
      </p:pic>
    </p:spTree>
    <p:extLst>
      <p:ext uri="{BB962C8B-B14F-4D97-AF65-F5344CB8AC3E}">
        <p14:creationId xmlns:p14="http://schemas.microsoft.com/office/powerpoint/2010/main" val="428627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983"/>
    </mc:Choice>
    <mc:Fallback xmlns="">
      <p:transition spd="slow" advTm="2498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B4C6B3-0C99-4F06-2D3E-B3DEF4A6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Q-Q plots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693D68-E48D-8E19-7036-167239DC6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800" dirty="0" err="1"/>
              <a:t>Diet</a:t>
            </a:r>
            <a:r>
              <a:rPr lang="it-IT" sz="1800" dirty="0"/>
              <a:t> 1, </a:t>
            </a:r>
            <a:r>
              <a:rPr lang="it-IT" sz="1800" dirty="0" err="1"/>
              <a:t>similar</a:t>
            </a:r>
            <a:r>
              <a:rPr lang="it-IT" sz="1800" dirty="0"/>
              <a:t> to </a:t>
            </a:r>
            <a:r>
              <a:rPr lang="it-IT" sz="1800" dirty="0" err="1"/>
              <a:t>normal</a:t>
            </a:r>
            <a:r>
              <a:rPr lang="it-IT" sz="1800" dirty="0"/>
              <a:t> </a:t>
            </a:r>
            <a:r>
              <a:rPr lang="it-IT" sz="1800" dirty="0" err="1"/>
              <a:t>distribution</a:t>
            </a:r>
            <a:endParaRPr lang="it-IT" sz="1800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006542F-3EBC-D9AA-68B6-05AE42A1D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 sz="1800" dirty="0" err="1"/>
              <a:t>Diet</a:t>
            </a:r>
            <a:r>
              <a:rPr lang="it-IT" sz="1800" dirty="0"/>
              <a:t> 2, </a:t>
            </a:r>
            <a:r>
              <a:rPr lang="it-IT" sz="1800" dirty="0" err="1"/>
              <a:t>similar</a:t>
            </a:r>
            <a:r>
              <a:rPr lang="it-IT" sz="1800" dirty="0"/>
              <a:t> to </a:t>
            </a:r>
            <a:r>
              <a:rPr lang="it-IT" sz="1800" dirty="0" err="1"/>
              <a:t>normal</a:t>
            </a:r>
            <a:r>
              <a:rPr lang="it-IT" sz="1800" dirty="0"/>
              <a:t> </a:t>
            </a:r>
            <a:r>
              <a:rPr lang="it-IT" sz="1800" dirty="0" err="1"/>
              <a:t>distribution</a:t>
            </a:r>
            <a:endParaRPr lang="it-IT" sz="1800" dirty="0"/>
          </a:p>
        </p:txBody>
      </p:sp>
      <p:pic>
        <p:nvPicPr>
          <p:cNvPr id="7" name="Segnaposto contenuto 4">
            <a:extLst>
              <a:ext uri="{FF2B5EF4-FFF2-40B4-BE49-F238E27FC236}">
                <a16:creationId xmlns:a16="http://schemas.microsoft.com/office/drawing/2014/main" id="{C26ECBAC-67E7-345D-D2F8-1B513C9587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" y="2845835"/>
            <a:ext cx="4184650" cy="3087204"/>
          </a:xfrm>
        </p:spPr>
      </p:pic>
      <p:pic>
        <p:nvPicPr>
          <p:cNvPr id="8" name="Segnaposto contenuto 4">
            <a:extLst>
              <a:ext uri="{FF2B5EF4-FFF2-40B4-BE49-F238E27FC236}">
                <a16:creationId xmlns:a16="http://schemas.microsoft.com/office/drawing/2014/main" id="{E705D89C-E56E-9F8E-0A42-205C560E787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939" y="2768706"/>
            <a:ext cx="4086626" cy="316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3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90"/>
    </mc:Choice>
    <mc:Fallback xmlns="">
      <p:transition spd="slow" advTm="2579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E4CF98-420A-229F-F555-93B236961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Shapiro-Wilk test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BFC908-8DD0-FBA0-06FF-FCEC94D9E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200" dirty="0"/>
              <a:t>The data of </a:t>
            </a:r>
            <a:r>
              <a:rPr lang="it-IT" sz="2200" dirty="0" err="1"/>
              <a:t>both</a:t>
            </a:r>
            <a:r>
              <a:rPr lang="it-IT" sz="2200" dirty="0"/>
              <a:t> groups </a:t>
            </a:r>
            <a:r>
              <a:rPr lang="it-IT" sz="2200" dirty="0" err="1"/>
              <a:t>seem</a:t>
            </a:r>
            <a:r>
              <a:rPr lang="it-IT" sz="2200" dirty="0"/>
              <a:t> </a:t>
            </a:r>
            <a:r>
              <a:rPr lang="it-IT" sz="2200" dirty="0" err="1"/>
              <a:t>distributed</a:t>
            </a:r>
            <a:r>
              <a:rPr lang="it-IT" sz="2200" dirty="0"/>
              <a:t> </a:t>
            </a:r>
            <a:r>
              <a:rPr lang="it-IT" sz="2200" dirty="0" err="1"/>
              <a:t>normally</a:t>
            </a:r>
            <a:r>
              <a:rPr lang="it-IT" sz="2200" dirty="0"/>
              <a:t>. To </a:t>
            </a:r>
            <a:r>
              <a:rPr lang="it-IT" sz="2200" dirty="0" err="1"/>
              <a:t>confirm</a:t>
            </a:r>
            <a:r>
              <a:rPr lang="it-IT" sz="2200" dirty="0"/>
              <a:t> the </a:t>
            </a:r>
            <a:r>
              <a:rPr lang="it-IT" sz="2200" dirty="0" err="1"/>
              <a:t>normality</a:t>
            </a:r>
            <a:r>
              <a:rPr lang="it-IT" sz="2200" dirty="0"/>
              <a:t> </a:t>
            </a:r>
            <a:r>
              <a:rPr lang="it-IT" sz="2200" b="1" dirty="0"/>
              <a:t>Shapiro-Wilk test </a:t>
            </a:r>
            <a:r>
              <a:rPr lang="it-IT" sz="2200" dirty="0" err="1"/>
              <a:t>will</a:t>
            </a:r>
            <a:r>
              <a:rPr lang="it-IT" sz="2200" dirty="0"/>
              <a:t> be </a:t>
            </a:r>
            <a:r>
              <a:rPr lang="it-IT" sz="2200" dirty="0" err="1"/>
              <a:t>used</a:t>
            </a:r>
            <a:r>
              <a:rPr lang="it-IT" sz="2200" dirty="0"/>
              <a:t>. </a:t>
            </a:r>
          </a:p>
          <a:p>
            <a:pPr marL="0" indent="0">
              <a:buNone/>
            </a:pPr>
            <a:endParaRPr lang="it-IT" sz="2200" dirty="0"/>
          </a:p>
          <a:p>
            <a:r>
              <a:rPr lang="it-IT" sz="2200" dirty="0"/>
              <a:t>In </a:t>
            </a:r>
            <a:r>
              <a:rPr lang="it-IT" sz="2200" dirty="0" err="1"/>
              <a:t>order</a:t>
            </a:r>
            <a:r>
              <a:rPr lang="it-IT" sz="2200" dirty="0"/>
              <a:t> to </a:t>
            </a:r>
            <a:r>
              <a:rPr lang="it-IT" sz="2200" dirty="0" err="1"/>
              <a:t>accept</a:t>
            </a:r>
            <a:r>
              <a:rPr lang="it-IT" sz="2200" dirty="0"/>
              <a:t> or </a:t>
            </a:r>
            <a:r>
              <a:rPr lang="it-IT" sz="2200" dirty="0" err="1"/>
              <a:t>not</a:t>
            </a:r>
            <a:r>
              <a:rPr lang="it-IT" sz="2200" dirty="0"/>
              <a:t> the </a:t>
            </a:r>
            <a:r>
              <a:rPr lang="it-IT" sz="2200" dirty="0" err="1"/>
              <a:t>normality</a:t>
            </a:r>
            <a:r>
              <a:rPr lang="it-IT" sz="2200" dirty="0"/>
              <a:t> </a:t>
            </a:r>
            <a:r>
              <a:rPr lang="it-IT" sz="2200" dirty="0" err="1"/>
              <a:t>hypotesis</a:t>
            </a:r>
            <a:r>
              <a:rPr lang="it-IT" sz="2200" dirty="0"/>
              <a:t> </a:t>
            </a:r>
            <a:r>
              <a:rPr lang="it-IT" sz="2200" dirty="0" err="1"/>
              <a:t>we</a:t>
            </a:r>
            <a:r>
              <a:rPr lang="it-IT" sz="2200" dirty="0"/>
              <a:t> </a:t>
            </a:r>
            <a:r>
              <a:rPr lang="it-IT" sz="2200" dirty="0" err="1"/>
              <a:t>will</a:t>
            </a:r>
            <a:r>
              <a:rPr lang="it-IT" sz="2200" dirty="0"/>
              <a:t> use the idea of </a:t>
            </a:r>
            <a:r>
              <a:rPr lang="it-IT" sz="2200" b="1" dirty="0"/>
              <a:t>p-</a:t>
            </a:r>
            <a:r>
              <a:rPr lang="it-IT" sz="2200" b="1" dirty="0" err="1"/>
              <a:t>value</a:t>
            </a:r>
            <a:r>
              <a:rPr lang="it-IT" sz="2200" b="1" dirty="0"/>
              <a:t> </a:t>
            </a:r>
            <a:r>
              <a:rPr lang="it-IT" sz="2200" dirty="0"/>
              <a:t>(i.e. </a:t>
            </a:r>
            <a:r>
              <a:rPr lang="en-US" sz="2200" dirty="0"/>
              <a:t> the probability, assuming the null hypothesis is true, of getting results at least as extreme as the ones observed</a:t>
            </a:r>
            <a:r>
              <a:rPr lang="it-IT" sz="2200" dirty="0"/>
              <a:t>). In general </a:t>
            </a:r>
            <a:r>
              <a:rPr lang="it-IT" sz="2200" dirty="0" err="1"/>
              <a:t>if</a:t>
            </a:r>
            <a:r>
              <a:rPr lang="it-IT" sz="2200" dirty="0"/>
              <a:t> the p-</a:t>
            </a:r>
            <a:r>
              <a:rPr lang="it-IT" sz="2200" dirty="0" err="1"/>
              <a:t>value</a:t>
            </a:r>
            <a:r>
              <a:rPr lang="it-IT" sz="2200" dirty="0"/>
              <a:t> </a:t>
            </a:r>
            <a:r>
              <a:rPr lang="it-IT" sz="2200" dirty="0" err="1"/>
              <a:t>is</a:t>
            </a:r>
            <a:r>
              <a:rPr lang="it-IT" sz="2200" dirty="0"/>
              <a:t> </a:t>
            </a:r>
            <a:r>
              <a:rPr lang="it-IT" sz="2200" dirty="0" err="1"/>
              <a:t>smaller</a:t>
            </a:r>
            <a:r>
              <a:rPr lang="it-IT" sz="2200" dirty="0"/>
              <a:t> </a:t>
            </a:r>
            <a:r>
              <a:rPr lang="it-IT" sz="2200" dirty="0" err="1"/>
              <a:t>than</a:t>
            </a:r>
            <a:r>
              <a:rPr lang="it-IT" sz="2200" dirty="0"/>
              <a:t> 0.05 the </a:t>
            </a:r>
            <a:r>
              <a:rPr lang="it-IT" sz="2200" dirty="0" err="1"/>
              <a:t>null</a:t>
            </a:r>
            <a:r>
              <a:rPr lang="it-IT" sz="2200" dirty="0"/>
              <a:t> </a:t>
            </a:r>
            <a:r>
              <a:rPr lang="it-IT" sz="2200" dirty="0" err="1"/>
              <a:t>hypothesis</a:t>
            </a:r>
            <a:r>
              <a:rPr lang="it-IT" sz="2200" dirty="0"/>
              <a:t> </a:t>
            </a:r>
            <a:r>
              <a:rPr lang="it-IT" sz="2200" dirty="0" err="1"/>
              <a:t>will</a:t>
            </a:r>
            <a:r>
              <a:rPr lang="it-IT" sz="2200" dirty="0"/>
              <a:t> be </a:t>
            </a:r>
            <a:r>
              <a:rPr lang="it-IT" sz="2200" dirty="0" err="1"/>
              <a:t>rejected</a:t>
            </a:r>
            <a:r>
              <a:rPr lang="it-IT" sz="2200" dirty="0"/>
              <a:t>.</a:t>
            </a:r>
          </a:p>
          <a:p>
            <a:endParaRPr lang="it-IT" sz="2200" dirty="0"/>
          </a:p>
          <a:p>
            <a:pPr marL="0" indent="0">
              <a:buNone/>
            </a:pPr>
            <a:endParaRPr lang="it-IT" sz="2200" dirty="0"/>
          </a:p>
        </p:txBody>
      </p:sp>
    </p:spTree>
    <p:extLst>
      <p:ext uri="{BB962C8B-B14F-4D97-AF65-F5344CB8AC3E}">
        <p14:creationId xmlns:p14="http://schemas.microsoft.com/office/powerpoint/2010/main" val="2181147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580"/>
    </mc:Choice>
    <mc:Fallback xmlns="">
      <p:transition spd="slow" advTm="4758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A64BD1-DA30-1B51-1F2A-F8B960303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Choosing</a:t>
            </a:r>
            <a:r>
              <a:rPr lang="it-IT" dirty="0"/>
              <a:t> the </a:t>
            </a:r>
            <a:r>
              <a:rPr lang="it-IT" dirty="0" err="1"/>
              <a:t>statistical</a:t>
            </a:r>
            <a:r>
              <a:rPr lang="it-IT" dirty="0"/>
              <a:t>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E68146-845A-6462-B1A8-B97DD2CD5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200" dirty="0"/>
              <a:t>The </a:t>
            </a:r>
            <a:r>
              <a:rPr lang="it-IT" sz="2200" dirty="0" err="1"/>
              <a:t>normality</a:t>
            </a:r>
            <a:r>
              <a:rPr lang="it-IT" sz="2200" dirty="0"/>
              <a:t> of the samples and </a:t>
            </a:r>
            <a:r>
              <a:rPr lang="it-IT" sz="2200" dirty="0" err="1"/>
              <a:t>their</a:t>
            </a:r>
            <a:r>
              <a:rPr lang="it-IT" sz="2200" dirty="0"/>
              <a:t> </a:t>
            </a:r>
            <a:r>
              <a:rPr lang="it-IT" sz="2200" dirty="0" err="1"/>
              <a:t>independence</a:t>
            </a:r>
            <a:r>
              <a:rPr lang="it-IT" sz="2200" dirty="0"/>
              <a:t> </a:t>
            </a:r>
            <a:r>
              <a:rPr lang="it-IT" sz="2200" dirty="0" err="1"/>
              <a:t>between</a:t>
            </a:r>
            <a:r>
              <a:rPr lang="it-IT" sz="2200" dirty="0"/>
              <a:t> </a:t>
            </a:r>
            <a:r>
              <a:rPr lang="it-IT" sz="2200" dirty="0" err="1"/>
              <a:t>each</a:t>
            </a:r>
            <a:r>
              <a:rPr lang="it-IT" sz="2200" dirty="0"/>
              <a:t> </a:t>
            </a:r>
            <a:r>
              <a:rPr lang="it-IT" sz="2200" dirty="0" err="1"/>
              <a:t>other</a:t>
            </a:r>
            <a:r>
              <a:rPr lang="it-IT" sz="2200" dirty="0"/>
              <a:t> are </a:t>
            </a:r>
            <a:r>
              <a:rPr lang="it-IT" sz="2200" dirty="0" err="1"/>
              <a:t>crucial</a:t>
            </a:r>
            <a:r>
              <a:rPr lang="it-IT" sz="2200" dirty="0"/>
              <a:t> </a:t>
            </a:r>
            <a:r>
              <a:rPr lang="it-IT" sz="2200" dirty="0" err="1"/>
              <a:t>hypotheses</a:t>
            </a:r>
            <a:r>
              <a:rPr lang="it-IT" sz="2200" dirty="0"/>
              <a:t> to </a:t>
            </a:r>
            <a:r>
              <a:rPr lang="it-IT" sz="2200" dirty="0" err="1"/>
              <a:t>apply</a:t>
            </a:r>
            <a:r>
              <a:rPr lang="it-IT" sz="2200" dirty="0"/>
              <a:t> </a:t>
            </a:r>
            <a:r>
              <a:rPr lang="it-IT" sz="2200" b="1" dirty="0" err="1"/>
              <a:t>Welch’s</a:t>
            </a:r>
            <a:r>
              <a:rPr lang="it-IT" sz="2200" b="1" dirty="0"/>
              <a:t> t-test</a:t>
            </a:r>
            <a:r>
              <a:rPr lang="it-IT" sz="2200" dirty="0"/>
              <a:t>.</a:t>
            </a:r>
          </a:p>
          <a:p>
            <a:endParaRPr lang="it-IT" sz="2200" dirty="0"/>
          </a:p>
          <a:p>
            <a:endParaRPr lang="it-IT" sz="2200" dirty="0"/>
          </a:p>
          <a:p>
            <a:r>
              <a:rPr lang="it-IT" sz="2200" dirty="0"/>
              <a:t>I </a:t>
            </a:r>
            <a:r>
              <a:rPr lang="it-IT" sz="2200" dirty="0" err="1"/>
              <a:t>prefer</a:t>
            </a:r>
            <a:r>
              <a:rPr lang="it-IT" sz="2200" dirty="0"/>
              <a:t> Welch to </a:t>
            </a:r>
            <a:r>
              <a:rPr lang="it-IT" sz="2200" dirty="0" err="1"/>
              <a:t>Student’s</a:t>
            </a:r>
            <a:r>
              <a:rPr lang="it-IT" sz="2200" dirty="0"/>
              <a:t> t-test </a:t>
            </a:r>
            <a:r>
              <a:rPr lang="it-IT" sz="2200" dirty="0" err="1"/>
              <a:t>since</a:t>
            </a:r>
            <a:r>
              <a:rPr lang="it-IT" sz="2200" dirty="0"/>
              <a:t> the </a:t>
            </a:r>
            <a:r>
              <a:rPr lang="it-IT" sz="2200" dirty="0" err="1"/>
              <a:t>variances</a:t>
            </a:r>
            <a:r>
              <a:rPr lang="it-IT" sz="2200" dirty="0"/>
              <a:t> are s₁² = 3466 and s₂² = 6240. </a:t>
            </a:r>
            <a:r>
              <a:rPr lang="it-IT" sz="2200" dirty="0" err="1"/>
              <a:t>Levene</a:t>
            </a:r>
            <a:r>
              <a:rPr lang="it-IT" sz="2200" dirty="0"/>
              <a:t> or </a:t>
            </a:r>
            <a:r>
              <a:rPr lang="it-IT" sz="2200" dirty="0" err="1"/>
              <a:t>similar</a:t>
            </a:r>
            <a:r>
              <a:rPr lang="it-IT" sz="2200" dirty="0"/>
              <a:t> test </a:t>
            </a:r>
            <a:r>
              <a:rPr lang="it-IT" sz="2200" dirty="0" err="1"/>
              <a:t>may</a:t>
            </a:r>
            <a:r>
              <a:rPr lang="it-IT" sz="2200" dirty="0"/>
              <a:t> be </a:t>
            </a:r>
            <a:r>
              <a:rPr lang="it-IT" sz="2200" dirty="0" err="1"/>
              <a:t>also</a:t>
            </a:r>
            <a:r>
              <a:rPr lang="it-IT" sz="2200" dirty="0"/>
              <a:t> </a:t>
            </a:r>
            <a:r>
              <a:rPr lang="it-IT" sz="2200" dirty="0" err="1"/>
              <a:t>not</a:t>
            </a:r>
            <a:r>
              <a:rPr lang="it-IT" sz="2200" dirty="0"/>
              <a:t> </a:t>
            </a:r>
            <a:r>
              <a:rPr lang="it-IT" sz="2200" dirty="0" err="1"/>
              <a:t>enough</a:t>
            </a:r>
            <a:r>
              <a:rPr lang="it-IT" sz="2200" dirty="0"/>
              <a:t> </a:t>
            </a:r>
            <a:r>
              <a:rPr lang="it-IT" sz="2200" dirty="0" err="1"/>
              <a:t>powerful</a:t>
            </a:r>
            <a:r>
              <a:rPr lang="it-IT" sz="2200" dirty="0"/>
              <a:t>.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80696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474"/>
    </mc:Choice>
    <mc:Fallback xmlns="">
      <p:transition spd="slow" advTm="5547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C481A9-45A1-83B9-53C5-2801F96CB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Preliminary </a:t>
            </a:r>
            <a:r>
              <a:rPr lang="it-IT" dirty="0" err="1"/>
              <a:t>results</a:t>
            </a:r>
            <a:endParaRPr lang="it-IT" dirty="0"/>
          </a:p>
        </p:txBody>
      </p:sp>
      <p:pic>
        <p:nvPicPr>
          <p:cNvPr id="7" name="Segnaposto contenuto 6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7160DD5A-8488-AC93-78CF-8ABE63E4DD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2296887"/>
            <a:ext cx="8596312" cy="3494314"/>
          </a:xfrm>
        </p:spPr>
      </p:pic>
    </p:spTree>
    <p:extLst>
      <p:ext uri="{BB962C8B-B14F-4D97-AF65-F5344CB8AC3E}">
        <p14:creationId xmlns:p14="http://schemas.microsoft.com/office/powerpoint/2010/main" val="349170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97"/>
    </mc:Choice>
    <mc:Fallback xmlns="">
      <p:transition spd="slow" advTm="819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551E2B-4A9C-082E-FB80-DF7668443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Welch’s</a:t>
            </a:r>
            <a:r>
              <a:rPr lang="it-IT" dirty="0"/>
              <a:t> t-test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96CB6E-51A4-6BB7-94D1-B5BDAB7F9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No strong evidence against normality (</a:t>
            </a:r>
            <a:r>
              <a:rPr lang="en-US" sz="2400" dirty="0"/>
              <a:t>p₁-value</a:t>
            </a:r>
            <a:r>
              <a:rPr lang="it-IT" sz="2400" dirty="0"/>
              <a:t>=0.59</a:t>
            </a:r>
            <a:r>
              <a:rPr lang="en-US" sz="2200" dirty="0"/>
              <a:t>, </a:t>
            </a:r>
            <a:r>
              <a:rPr lang="en-US" sz="2400" dirty="0"/>
              <a:t>p₂-value</a:t>
            </a:r>
            <a:r>
              <a:rPr lang="it-IT" sz="2400" dirty="0"/>
              <a:t>=0.945, Q-Q plots).</a:t>
            </a:r>
            <a:endParaRPr lang="it-IT" sz="2200" dirty="0"/>
          </a:p>
          <a:p>
            <a:r>
              <a:rPr lang="en-US" sz="2200" dirty="0"/>
              <a:t>Samples are independent by design.</a:t>
            </a:r>
          </a:p>
          <a:p>
            <a:r>
              <a:rPr lang="en-US" sz="2200" dirty="0"/>
              <a:t>The dimension of samples are different and small (n₁=16, n₂=10)</a:t>
            </a:r>
            <a:r>
              <a:rPr lang="it-IT" sz="2200" dirty="0"/>
              <a:t>. </a:t>
            </a:r>
          </a:p>
          <a:p>
            <a:pPr marL="0" indent="0" algn="ctr">
              <a:buNone/>
            </a:pPr>
            <a:r>
              <a:rPr lang="it-IT" sz="2600" b="1" dirty="0"/>
              <a:t>so</a:t>
            </a:r>
          </a:p>
          <a:p>
            <a:r>
              <a:rPr lang="it-IT" sz="2200" dirty="0"/>
              <a:t>I </a:t>
            </a:r>
            <a:r>
              <a:rPr lang="it-IT" sz="2200" dirty="0" err="1"/>
              <a:t>applied</a:t>
            </a:r>
            <a:r>
              <a:rPr lang="it-IT" sz="2200" dirty="0"/>
              <a:t> the </a:t>
            </a:r>
            <a:r>
              <a:rPr lang="it-IT" sz="2200" b="1" dirty="0" err="1"/>
              <a:t>Welch’s</a:t>
            </a:r>
            <a:r>
              <a:rPr lang="it-IT" sz="2200" b="1" dirty="0"/>
              <a:t> t-test.</a:t>
            </a:r>
            <a:endParaRPr lang="it-IT" sz="2200" dirty="0"/>
          </a:p>
        </p:txBody>
      </p:sp>
    </p:spTree>
    <p:extLst>
      <p:ext uri="{BB962C8B-B14F-4D97-AF65-F5344CB8AC3E}">
        <p14:creationId xmlns:p14="http://schemas.microsoft.com/office/powerpoint/2010/main" val="290233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422"/>
    </mc:Choice>
    <mc:Fallback xmlns="">
      <p:transition spd="slow" advTm="3642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C02471-C4BF-3874-92D1-890EE1DF6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Results</a:t>
            </a:r>
            <a:r>
              <a:rPr lang="it-IT" dirty="0"/>
              <a:t> of the t-test</a:t>
            </a:r>
          </a:p>
        </p:txBody>
      </p:sp>
      <p:pic>
        <p:nvPicPr>
          <p:cNvPr id="6" name="Segnaposto contenuto 5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09BAA156-6A13-848B-8EC0-F5D4667A5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47" y="2202499"/>
            <a:ext cx="9342721" cy="2725102"/>
          </a:xfrm>
        </p:spPr>
      </p:pic>
    </p:spTree>
    <p:extLst>
      <p:ext uri="{BB962C8B-B14F-4D97-AF65-F5344CB8AC3E}">
        <p14:creationId xmlns:p14="http://schemas.microsoft.com/office/powerpoint/2010/main" val="2225779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96"/>
    </mc:Choice>
    <mc:Fallback xmlns="">
      <p:transition spd="slow" advTm="669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7DF054-4820-46E7-CDE7-634927151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Confidence </a:t>
            </a:r>
            <a:r>
              <a:rPr lang="it-IT" dirty="0" err="1"/>
              <a:t>intervals</a:t>
            </a:r>
            <a:endParaRPr lang="it-IT" dirty="0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8D0742AA-36ED-F2E2-05DB-4D780EF6D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200" dirty="0" err="1"/>
              <a:t>It</a:t>
            </a:r>
            <a:r>
              <a:rPr lang="it-IT" sz="2200" dirty="0"/>
              <a:t> </a:t>
            </a:r>
            <a:r>
              <a:rPr lang="it-IT" sz="2200" dirty="0" err="1"/>
              <a:t>is</a:t>
            </a:r>
            <a:r>
              <a:rPr lang="it-IT" sz="2200" dirty="0"/>
              <a:t> </a:t>
            </a:r>
            <a:r>
              <a:rPr lang="it-IT" sz="2200" dirty="0" err="1"/>
              <a:t>useful</a:t>
            </a:r>
            <a:r>
              <a:rPr lang="it-IT" sz="2200" dirty="0"/>
              <a:t> </a:t>
            </a:r>
            <a:r>
              <a:rPr lang="it-IT" sz="2200" dirty="0" err="1"/>
              <a:t>also</a:t>
            </a:r>
            <a:r>
              <a:rPr lang="it-IT" sz="2200" dirty="0"/>
              <a:t> to compute the confidence </a:t>
            </a:r>
            <a:r>
              <a:rPr lang="it-IT" sz="2200" dirty="0" err="1"/>
              <a:t>intervals</a:t>
            </a:r>
            <a:r>
              <a:rPr lang="it-IT" sz="2200" dirty="0"/>
              <a:t> </a:t>
            </a:r>
            <a:r>
              <a:rPr lang="it-IT" sz="2200" dirty="0" err="1"/>
              <a:t>related</a:t>
            </a:r>
            <a:r>
              <a:rPr lang="it-IT" sz="2200" dirty="0"/>
              <a:t> to </a:t>
            </a:r>
            <a:r>
              <a:rPr lang="it-IT" sz="2200" dirty="0" err="1"/>
              <a:t>these</a:t>
            </a:r>
            <a:r>
              <a:rPr lang="it-IT" sz="2200" dirty="0"/>
              <a:t> </a:t>
            </a:r>
            <a:r>
              <a:rPr lang="it-IT" sz="2200" dirty="0" err="1"/>
              <a:t>two</a:t>
            </a:r>
            <a:r>
              <a:rPr lang="it-IT" sz="2200" dirty="0"/>
              <a:t> samples.</a:t>
            </a:r>
          </a:p>
          <a:p>
            <a:endParaRPr lang="it-IT" sz="2200" dirty="0"/>
          </a:p>
          <a:p>
            <a:pPr marL="0" indent="0">
              <a:buNone/>
            </a:pPr>
            <a:endParaRPr lang="it-IT" sz="2200" dirty="0"/>
          </a:p>
          <a:p>
            <a:r>
              <a:rPr lang="en-US" sz="2200" dirty="0"/>
              <a:t>If 0 lies within the CI, then there is not significant difference between Diet 1 and Diet 2 growth.</a:t>
            </a:r>
            <a:endParaRPr lang="it-IT" sz="2200" dirty="0"/>
          </a:p>
        </p:txBody>
      </p:sp>
    </p:spTree>
    <p:extLst>
      <p:ext uri="{BB962C8B-B14F-4D97-AF65-F5344CB8AC3E}">
        <p14:creationId xmlns:p14="http://schemas.microsoft.com/office/powerpoint/2010/main" val="161113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210"/>
    </mc:Choice>
    <mc:Fallback xmlns="">
      <p:transition spd="slow" advTm="3721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2620DC-C7E9-683F-7204-B748F58BB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Compute 95% CI</a:t>
            </a:r>
          </a:p>
        </p:txBody>
      </p:sp>
      <p:pic>
        <p:nvPicPr>
          <p:cNvPr id="7" name="Segnaposto contenuto 6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932FEAEA-03CA-E22F-1234-1705095BF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693912"/>
            <a:ext cx="8596312" cy="2531231"/>
          </a:xfrm>
        </p:spPr>
      </p:pic>
    </p:spTree>
    <p:extLst>
      <p:ext uri="{BB962C8B-B14F-4D97-AF65-F5344CB8AC3E}">
        <p14:creationId xmlns:p14="http://schemas.microsoft.com/office/powerpoint/2010/main" val="3525195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86"/>
    </mc:Choice>
    <mc:Fallback xmlns="">
      <p:transition spd="slow" advTm="368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BB861C-E5E9-46F0-C616-CE67F30E7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Compute 90% CI</a:t>
            </a:r>
          </a:p>
        </p:txBody>
      </p:sp>
      <p:pic>
        <p:nvPicPr>
          <p:cNvPr id="9" name="Segnaposto contenuto 8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1B6BBD8F-835E-C05F-AABB-A7EE9B46D3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2427514"/>
            <a:ext cx="8596312" cy="2917372"/>
          </a:xfrm>
        </p:spPr>
      </p:pic>
    </p:spTree>
    <p:extLst>
      <p:ext uri="{BB962C8B-B14F-4D97-AF65-F5344CB8AC3E}">
        <p14:creationId xmlns:p14="http://schemas.microsoft.com/office/powerpoint/2010/main" val="9786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"/>
    </mc:Choice>
    <mc:Fallback xmlns="">
      <p:transition spd="slow" advTm="36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7D4886-D348-E4F0-5DF7-01AAB38A5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Conclusions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673ADFA-3347-DE48-5ED7-6BCE4A3BC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p-value of the test=0.21,</a:t>
            </a:r>
          </a:p>
          <a:p>
            <a:r>
              <a:rPr lang="en-US" sz="2200" dirty="0"/>
              <a:t>Confidence intervals, 95% CI=[-23.3,98.8], 90% CI=</a:t>
            </a:r>
            <a:r>
              <a:rPr lang="it-IT" sz="2200" dirty="0"/>
              <a:t>[−12.6, 88.2]</a:t>
            </a:r>
          </a:p>
          <a:p>
            <a:r>
              <a:rPr lang="en-US" sz="2200" dirty="0"/>
              <a:t>Mean difference=37.8 g</a:t>
            </a:r>
            <a:endParaRPr lang="it-IT" sz="2200" dirty="0"/>
          </a:p>
          <a:p>
            <a:pPr marL="0" indent="0">
              <a:buNone/>
            </a:pPr>
            <a:endParaRPr lang="it-IT" sz="2200" dirty="0"/>
          </a:p>
          <a:p>
            <a:pPr marL="0" indent="0" algn="ctr">
              <a:buNone/>
            </a:pPr>
            <a:r>
              <a:rPr lang="it-IT" sz="2200" b="1" dirty="0"/>
              <a:t>so</a:t>
            </a:r>
          </a:p>
          <a:p>
            <a:endParaRPr lang="en-US" sz="2200" dirty="0"/>
          </a:p>
          <a:p>
            <a:r>
              <a:rPr lang="en-US" sz="2200" b="1" dirty="0"/>
              <a:t>No significant growth difference between Diet 1 and Diet 2, but more data are needed to confirm the result.</a:t>
            </a:r>
          </a:p>
          <a:p>
            <a:endParaRPr lang="it-IT" sz="2200" b="1" dirty="0"/>
          </a:p>
          <a:p>
            <a:pPr marL="0" indent="0" algn="ctr">
              <a:buNone/>
            </a:pPr>
            <a:endParaRPr lang="it-IT" sz="2200" b="1" dirty="0"/>
          </a:p>
          <a:p>
            <a:pPr marL="0" indent="0">
              <a:buNone/>
            </a:pPr>
            <a:endParaRPr lang="it-IT" sz="2200" dirty="0"/>
          </a:p>
          <a:p>
            <a:endParaRPr lang="it-IT" sz="2200" dirty="0"/>
          </a:p>
        </p:txBody>
      </p:sp>
    </p:spTree>
    <p:extLst>
      <p:ext uri="{BB962C8B-B14F-4D97-AF65-F5344CB8AC3E}">
        <p14:creationId xmlns:p14="http://schemas.microsoft.com/office/powerpoint/2010/main" val="125240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044"/>
    </mc:Choice>
    <mc:Fallback xmlns="">
      <p:transition spd="slow" advTm="52044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22EE25-8D45-8D98-4BD7-A2C3E862E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Key Takeaways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F8670E-481D-65A4-EB3E-3C90D4AC2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No significant growth difference between Diet 1 and Diet 2.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Small dataset, expand it with more features.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Recommendation: choose diet based on cost and other factors (37.8 g mean difference may have a financial impact depending on cost of feed, check bias Group 1).</a:t>
            </a:r>
            <a:endParaRPr lang="en-US" sz="2400" dirty="0"/>
          </a:p>
          <a:p>
            <a:endParaRPr lang="it-IT" sz="2200" dirty="0"/>
          </a:p>
        </p:txBody>
      </p:sp>
    </p:spTree>
    <p:extLst>
      <p:ext uri="{BB962C8B-B14F-4D97-AF65-F5344CB8AC3E}">
        <p14:creationId xmlns:p14="http://schemas.microsoft.com/office/powerpoint/2010/main" val="20949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822"/>
    </mc:Choice>
    <mc:Fallback xmlns="">
      <p:transition spd="slow" advTm="69822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30CB8D4-60BB-0399-3A4C-251B64685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956733"/>
          </a:xfrm>
        </p:spPr>
        <p:txBody>
          <a:bodyPr>
            <a:normAutofit fontScale="90000"/>
          </a:bodyPr>
          <a:lstStyle/>
          <a:p>
            <a:pPr algn="ctr"/>
            <a:r>
              <a:rPr lang="it-IT" sz="6000" dirty="0"/>
              <a:t>Thank </a:t>
            </a:r>
            <a:r>
              <a:rPr lang="it-IT" sz="6000" dirty="0" err="1"/>
              <a:t>you</a:t>
            </a:r>
            <a:r>
              <a:rPr lang="it-IT" sz="6000" dirty="0"/>
              <a:t>!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3373571-05CB-BA1D-7C23-EA09419A0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1147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0"/>
    </mc:Choice>
    <mc:Fallback xmlns="">
      <p:transition spd="slow" advTm="1560"/>
    </mc:Fallback>
  </mc:AlternateContent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1598</TotalTime>
  <Words>696</Words>
  <Application>Microsoft Office PowerPoint</Application>
  <PresentationFormat>Widescreen</PresentationFormat>
  <Paragraphs>79</Paragraphs>
  <Slides>20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5" baseType="lpstr">
      <vt:lpstr>Aptos</vt:lpstr>
      <vt:lpstr>Arial</vt:lpstr>
      <vt:lpstr>Trebuchet MS</vt:lpstr>
      <vt:lpstr>Wingdings 3</vt:lpstr>
      <vt:lpstr>Sfaccettatura</vt:lpstr>
      <vt:lpstr>Do Diets 1 &amp; 2 Yield Different Growth? </vt:lpstr>
      <vt:lpstr>Executive summary</vt:lpstr>
      <vt:lpstr>Definition of the problem and goal</vt:lpstr>
      <vt:lpstr>Null hypothesis and coding tools</vt:lpstr>
      <vt:lpstr>Initial steps and data cleaning</vt:lpstr>
      <vt:lpstr>Data on the growth for the two groups</vt:lpstr>
      <vt:lpstr>Statistics on the growth</vt:lpstr>
      <vt:lpstr>Boxplots of the distributions</vt:lpstr>
      <vt:lpstr>Q-Q plots</vt:lpstr>
      <vt:lpstr>Shapiro-Wilk test </vt:lpstr>
      <vt:lpstr>Choosing the statistical test</vt:lpstr>
      <vt:lpstr>Preliminary results</vt:lpstr>
      <vt:lpstr>Welch’s t-test</vt:lpstr>
      <vt:lpstr>Results of the t-test</vt:lpstr>
      <vt:lpstr>Confidence intervals</vt:lpstr>
      <vt:lpstr>Compute 95% CI</vt:lpstr>
      <vt:lpstr>Compute 90% CI</vt:lpstr>
      <vt:lpstr>Conclusions</vt:lpstr>
      <vt:lpstr>Key Takeaways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Raffaele Grande</dc:creator>
  <cp:lastModifiedBy>Raffaele Grande</cp:lastModifiedBy>
  <cp:revision>45</cp:revision>
  <dcterms:created xsi:type="dcterms:W3CDTF">2025-08-29T06:16:50Z</dcterms:created>
  <dcterms:modified xsi:type="dcterms:W3CDTF">2025-09-25T05:35:39Z</dcterms:modified>
</cp:coreProperties>
</file>